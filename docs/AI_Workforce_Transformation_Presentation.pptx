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AI Workforce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A838"/>
                </a:solidFill>
                <a:latin typeface="Calibri"/>
              </a:rPr>
              <a:t>Decision Analytics Portfolio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A"/>
                </a:solidFill>
                <a:latin typeface="Calibri"/>
              </a:rPr>
              <a:t>End-to-end analytical framework for enterprise AI adoption strategy
across 29 workforce roles · 145 tasks · $373M annual labour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5A5A6"/>
                </a:solidFill>
                <a:latin typeface="Calibri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194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Sahil Saurav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A838"/>
                </a:solidFill>
                <a:latin typeface="Calibri"/>
              </a:rPr>
              <a:t>GitHub: DATADUDE07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7772400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A838"/>
                </a:solidFill>
                <a:latin typeface="Calibri"/>
              </a:rPr>
              <a:t>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A"/>
                </a:solidFill>
                <a:latin typeface="Calibri"/>
              </a:rPr>
              <a:t>Roles Analysed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A838"/>
                </a:solidFill>
                <a:latin typeface="Calibri"/>
              </a:rPr>
              <a:t>$373M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A"/>
                </a:solidFill>
                <a:latin typeface="Calibri"/>
              </a:rPr>
              <a:t>Total Labour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A838"/>
                </a:solidFill>
                <a:latin typeface="Calibri"/>
              </a:rPr>
              <a:t>$61M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A"/>
                </a:solidFill>
                <a:latin typeface="Calibri"/>
              </a:rPr>
              <a:t>Annual Savings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A838"/>
                </a:solidFill>
                <a:latin typeface="Calibri"/>
              </a:rPr>
              <a:t>~94%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A"/>
                </a:solidFill>
                <a:latin typeface="Calibri"/>
              </a:rPr>
              <a:t>Year-1 ROI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841248" cy="2926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1389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81328" y="5120640"/>
            <a:ext cx="841248" cy="2926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27048" y="51389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pandas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14016" y="5120640"/>
            <a:ext cx="754380" cy="2926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59736" y="5138928"/>
            <a:ext cx="6629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NumPy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9836" y="5120640"/>
            <a:ext cx="841248" cy="2926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05556" y="51389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92524" y="5120640"/>
            <a:ext cx="1188719" cy="2926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38244" y="51389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matplotlib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72684" y="5120640"/>
            <a:ext cx="1014983" cy="2926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18404" y="5138928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openpyxl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5A5A6"/>
                </a:solidFill>
                <a:latin typeface="Calibri"/>
              </a:rPr>
              <a:t>Decision Analytics  ·  Workforce Strategy  ·  AI Adoption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A"/>
                </a:solidFill>
                <a:latin typeface="Calibri"/>
              </a:rPr>
              <a:t>AI Workforce Transformation — Portfolio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350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8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28016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5E"/>
                </a:solidFill>
                <a:latin typeface="Calibri"/>
              </a:rPr>
              <a:t>Project Overview &amp; Business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39"/>
            <a:ext cx="50292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0370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8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148839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22402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5E"/>
                </a:solidFill>
                <a:latin typeface="Calibri"/>
              </a:rPr>
              <a:t>Dataset Architecture &amp; Schema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8"/>
                </a:solidFill>
                <a:latin typeface="Calibr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01752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7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5E"/>
                </a:solidFill>
                <a:latin typeface="Calibri"/>
              </a:rPr>
              <a:t>AI Classification Framework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4106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8"/>
                </a:solidFill>
                <a:latin typeface="Calibri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388620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7" y="39776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5E"/>
                </a:solidFill>
                <a:latin typeface="Calibri"/>
              </a:rPr>
              <a:t>AI Adoption Priority Score (AAPS)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54879"/>
            <a:ext cx="50292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0974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8"/>
                </a:solidFill>
                <a:latin typeface="Calibri"/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754879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7" y="48463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5E"/>
                </a:solidFill>
                <a:latin typeface="Calibri"/>
              </a:rPr>
              <a:t>Workforce &amp; Cost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23560"/>
            <a:ext cx="50292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6784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8"/>
                </a:solidFill>
                <a:latin typeface="Calibri"/>
              </a:rPr>
              <a:t>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562356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7" y="5715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5E"/>
                </a:solidFill>
                <a:latin typeface="Calibri"/>
              </a:rPr>
              <a:t>SQL Analysis — 15 Business Queries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280160"/>
            <a:ext cx="50292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3350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8"/>
                </a:solidFill>
                <a:latin typeface="Calibri"/>
              </a:rPr>
              <a:t>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79" y="128016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0607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5E"/>
                </a:solidFill>
                <a:latin typeface="Calibri"/>
              </a:rPr>
              <a:t>Scenario Analysis (Conservative / Moderate / Aggressive)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148839"/>
            <a:ext cx="50292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20370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8"/>
                </a:solidFill>
                <a:latin typeface="Calibri"/>
              </a:rPr>
              <a:t>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79" y="2148839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50607" y="22402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5E"/>
                </a:solidFill>
                <a:latin typeface="Calibri"/>
              </a:rPr>
              <a:t>Sensitivity Analysis &amp; Robustness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3017520"/>
            <a:ext cx="50292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0723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8"/>
                </a:solidFill>
                <a:latin typeface="Calibri"/>
              </a:rPr>
              <a:t>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79" y="301752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7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5E"/>
                </a:solidFill>
                <a:latin typeface="Calibri"/>
              </a:rPr>
              <a:t>Key Visualisations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886200"/>
            <a:ext cx="50292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94106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8"/>
                </a:solidFill>
                <a:latin typeface="Calibri"/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79" y="388620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50607" y="39776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5E"/>
                </a:solidFill>
                <a:latin typeface="Calibri"/>
              </a:rPr>
              <a:t>Recommendations &amp; Implementation Roadmap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4754879"/>
            <a:ext cx="50292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80974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8"/>
                </a:solidFill>
                <a:latin typeface="Calibri"/>
              </a:rPr>
              <a:t>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79" y="4754879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50607" y="48463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5E"/>
                </a:solidFill>
                <a:latin typeface="Calibri"/>
              </a:rPr>
              <a:t>Limitations, Risks &amp; Next Steps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19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A"/>
                </a:solidFill>
                <a:latin typeface="Calibri"/>
              </a:rPr>
              <a:t>Sahil Saurav  |  GitHub: DATADUDE07  |  AI Workforce Transformation Analytics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19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All data synthetic — illustrative only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A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01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A"/>
                </a:solidFill>
                <a:latin typeface="Calibri"/>
              </a:rPr>
              <a:t>Business problem, scope, and key deliverables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❝  Which roles / tasks should be automated by AI first, which should be augmented,
    and what is the estimated financial impact — with quantified risk?  ❞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53949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C5E"/>
                </a:solidFill>
                <a:latin typeface="Calibri"/>
              </a:rPr>
              <a:t>Project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79192"/>
            <a:ext cx="5166360" cy="1828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88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Simulated enterprise: ~2,932 FTEs, $373M labour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29 workforce roles across 10 business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924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145 tasks mapped and classified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941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3 adoption scenarios modelled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959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15 SQL analytical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97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8-sheet Excel executive workbook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99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11 business charts (matplotlib)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011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Full sensitivity analysis (12 perturbations)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029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046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All data is synthetic, derived from public benchmarks: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06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BLS OES · McKinsey · MIT/Stanford · Glassdoor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240280"/>
            <a:ext cx="57607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2304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C5E"/>
                </a:solidFill>
                <a:latin typeface="Calibri"/>
              </a:rPr>
              <a:t>Deliverables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679192"/>
            <a:ext cx="5440679" cy="1828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2788920"/>
            <a:ext cx="54864" cy="2286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7706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Calibri"/>
              </a:rPr>
              <a:t>4 Synthetic CSV Datasets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0175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5A5A6"/>
                </a:solidFill>
                <a:latin typeface="Calibri"/>
              </a:rPr>
              <a:t>Raw data with role-logic driven values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355848"/>
            <a:ext cx="54864" cy="2286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3375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Calibri"/>
              </a:rPr>
              <a:t>SQLite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5844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5A5A6"/>
                </a:solidFill>
                <a:latin typeface="Calibri"/>
              </a:rPr>
              <a:t>15 analytical queries with CTEs &amp; window fns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3922776"/>
            <a:ext cx="54864" cy="2286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9044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Calibri"/>
              </a:rPr>
              <a:t>AAPS Scoring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1513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5A5A6"/>
                </a:solidFill>
                <a:latin typeface="Calibri"/>
              </a:rPr>
              <a:t>6-factor weighted score with min-max norm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489704"/>
            <a:ext cx="54864" cy="2286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4714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Calibri"/>
              </a:rPr>
              <a:t>3-Scenario Financial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71830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5A5A6"/>
                </a:solidFill>
                <a:latin typeface="Calibri"/>
              </a:rPr>
              <a:t>Conservative · Moderate · Aggressive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5056632"/>
            <a:ext cx="54864" cy="2286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50383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Calibri"/>
              </a:rPr>
              <a:t>11 Business Charts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2852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5A5A6"/>
                </a:solidFill>
                <a:latin typeface="Calibri"/>
              </a:rPr>
              <a:t>Matplotlib PNGs — all business-narrative driven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5623560"/>
            <a:ext cx="54864" cy="2286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6052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Calibri"/>
              </a:rPr>
              <a:t>8-Sheet Excel Workbook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8521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5A5A6"/>
                </a:solidFill>
                <a:latin typeface="Calibri"/>
              </a:rPr>
              <a:t>RAG formatting, embedded charts, exec summary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19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A"/>
                </a:solidFill>
                <a:latin typeface="Calibri"/>
              </a:rPr>
              <a:t>Sahil Saurav  |  GitHub: DATADUDE07  |  AI Workforce Transformation Analytics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6519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All data synthetic — illustrative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A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02  Dataset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A"/>
                </a:solidFill>
                <a:latin typeface="Calibri"/>
              </a:rPr>
              <a:t>4 synthetic datasets · logic-driven values · reproducible (seed=42)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16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roles.csv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490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30 rows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7373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role_id, role_name, function, role_level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avg_annual_salary_usd, num_employees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2311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task_repetitiveness_pct, decision_intensity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4780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customer_impact, regulatory_sensitivity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2724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skill_complexity, ai_maturity_readiness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51960"/>
            <a:ext cx="2743200" cy="9601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429768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Calibri"/>
              </a:rPr>
              <a:t>Role-level master: 14 columns capturing
automation drivers per job function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188720"/>
            <a:ext cx="27432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216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employees.csv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1490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30 rows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69164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17373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role_id (FK → roles)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total_headcount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22311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total_annual_labor_cost_usd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24780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benefits_load_pct (30%)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2724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productive_hours_per_year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29718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cost_per_productive_hour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4251960"/>
            <a:ext cx="2743200" cy="9601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429768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Calibri"/>
              </a:rPr>
              <a:t>Workforce economics: salary × 1.30
benefits load; 48-week productive year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188720"/>
            <a:ext cx="274320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1216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tasks.csv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1490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≈145 rows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69164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17373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task_id, role_id (FK)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task_name, task_category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22311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time_pct_of_role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24780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automatable (bool)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2724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augmentable (bool)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9718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automation_confidence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3218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ai_tool_available (bool)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251960"/>
            <a:ext cx="2743200" cy="9601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429768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Calibri"/>
              </a:rPr>
              <a:t>Task-level granularity: ~5 tasks per
role with classification &amp; confidence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1188720"/>
            <a:ext cx="27432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1216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ai_assumptions.csv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1490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30 rows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169164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5167" y="17373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automation_potential_pct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5167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augmentation_potential_pct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5167" y="22311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ai_productivity_uplift_pct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45167" y="24780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implementation_cost_usd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45167" y="2724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ongoing_ai_cost_per_year_usd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5167" y="29718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scenario_conservative/moderate/aggressive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45167" y="3218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• quality_risk_score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4251960"/>
            <a:ext cx="2743200" cy="9601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45167" y="429768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Calibri"/>
              </a:rPr>
              <a:t>Scenario parameters &amp; AI economics:
per-role cost/benefit assumptions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30352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394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5A5A6"/>
                </a:solidFill>
                <a:latin typeface="Calibri"/>
              </a:rPr>
              <a:t>📋  Data Provenance: BLS OES 2023 (salary anchoring)  ·  McKinsey AI Reports (automation benchmarks)  ·  MIT/Stanford GitHub Copilot Studies (productivity uplift)  ·  Oxford Frey &amp; Osborne (task automability framework)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519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A"/>
                </a:solidFill>
                <a:latin typeface="Calibri"/>
              </a:rPr>
              <a:t>Sahil Saurav  |  GitHub: DATADUDE07  |  AI Workforce Transformation Analytics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6519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All data synthetic — illustrative only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A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03  AI Classification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058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A"/>
                </a:solidFill>
                <a:latin typeface="Calibri"/>
              </a:rPr>
              <a:t>Three-tier taxonomy to separate automation, augmentation, and human-only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435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🤖  FULL AUTOMATION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AI replaces the human for this 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3657600" cy="2194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Classification Criteria: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✓  automatable =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4436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✓  automation_confidence &gt; 0.75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3697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✓  human_oversight &lt;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29583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✓  quality_risk &lt; 0.40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80560"/>
            <a:ext cx="36576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262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Example roles: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7316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Roles: Data Entry Clerks, AP/AR,
Reporting Analysts, QA Engineers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188720"/>
            <a:ext cx="365760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2435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🤝  AI AUGMENTATION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78308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18288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AI assists but human decides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286000"/>
            <a:ext cx="3657600" cy="2194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233172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Classification Criteria: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6517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✓  augmentable = True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94436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✓  decision_intensity &gt; 0.50  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23697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✓  regulatory_sensitivity &gt; 0.50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529583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✓  Human owns the outcome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480560"/>
            <a:ext cx="365760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45262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Example roles: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77316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Roles: Financial Analysts, Recruiters,
Legal Assistants, Account Managers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188720"/>
            <a:ext cx="365760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7" y="12435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🧠  LOW AI SUITABILITY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78308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18288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Minimal AI benefit — human-centric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2286000"/>
            <a:ext cx="3657600" cy="2194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233172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Classification Criteria: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26517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✓  decision_intensity &gt; 0.80  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294436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✓  customer_impact &gt; 0.80  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323697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✓  regulatory_sensitivity &gt; 0.80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3529583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✓  No production AI tool available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4480560"/>
            <a:ext cx="36576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45262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Example roles: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77316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Roles: Corporate Counsel, CHRO,
Customer Success Directors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94960"/>
            <a:ext cx="11475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440680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5A5A6"/>
                </a:solidFill>
                <a:latin typeface="Calibri"/>
              </a:rPr>
              <a:t>Task analysis based on: task_category · automation_confidence · ai_tool_available · time_pct_of_role · decision_intensity
Classification persists in tasks_enriched.csv and drives the AAPS scoring framework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19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A"/>
                </a:solidFill>
                <a:latin typeface="Calibri"/>
              </a:rPr>
              <a:t>Sahil Saurav  |  GitHub: DATADUDE07  |  AI Workforce Transformation Analytics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519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All data synthetic — illustrative only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A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04  AI Adoption Priority Score (AAPS)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A"/>
                </a:solidFill>
                <a:latin typeface="Calibri"/>
              </a:rPr>
              <a:t>Transparent, weighted composite score to prioritise roles for AI adoption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75720" cy="1143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A838"/>
                </a:solidFill>
                <a:latin typeface="Courier New"/>
              </a:rPr>
              <a:t>AAPS  =  0.25 × F1  +  0.25 × F2  +  0.15 × F3  +  0.15 × F4  +  0.10 × (1−F5)  +  0.10 × (1−F6)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64792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5A5A6"/>
                </a:solidFill>
                <a:latin typeface="Calibri"/>
              </a:rPr>
              <a:t>All factors min-max normalised to [0, 1]  ·  Weights sum to 1.0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640080" cy="1463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0175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520440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877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Calibri"/>
              </a:rPr>
              <a:t>Automation Potential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260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Foundation factor — no strategy works without
technical feasibility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51460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514600"/>
            <a:ext cx="640080" cy="1463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30175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520440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5877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Calibri"/>
              </a:rPr>
              <a:t>Cost-Saving Potential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260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Business case driver — executive support
requires measurable savings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51460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514600"/>
            <a:ext cx="640080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0175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520440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0.15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5877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Calibri"/>
              </a:rPr>
              <a:t>Productivity Improvement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9260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Captures augmentation value —
more output per FTE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6052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160520"/>
            <a:ext cx="640080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66344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166360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0.15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2336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Calibri"/>
              </a:rPr>
              <a:t>Implementation Feasibility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5720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Speed to value — low complexity = faster
early wins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16052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4160520"/>
            <a:ext cx="64008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66344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166360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0.10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2336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Calibri"/>
              </a:rPr>
              <a:t>Quality / Risk (inverted)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5720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High AI error risk in regulated/customer-
facing roles reduces priority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16052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4160520"/>
            <a:ext cx="640080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466344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5166360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0.10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2336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Calibri"/>
              </a:rPr>
              <a:t>Human Judgment (inverted)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45720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Complex judgment resists automation;
downward modifier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852160"/>
            <a:ext cx="11475720" cy="1828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19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A"/>
                </a:solidFill>
                <a:latin typeface="Calibri"/>
              </a:rPr>
              <a:t>Sahil Saurav  |  GitHub: DATADUDE07  |  AI Workforce Transformation Analytics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19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All data synthetic — illustrative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A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05  Workforce &amp; Cost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A"/>
                </a:solidFill>
                <a:latin typeface="Calibri"/>
              </a:rPr>
              <a:t>2,932 FTEs  ·  $373M annual labour cost  ·  10 business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194560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4358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2,932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19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Total FTEs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188720"/>
            <a:ext cx="2194560" cy="10058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24358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$373M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719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Annual Labour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1188720"/>
            <a:ext cx="219456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124358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$127K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1719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Avg Loaded Cost/FTE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97496" y="1188720"/>
            <a:ext cx="2194560" cy="10058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3" y="124358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$98M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223" y="1719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Automatable Cost Pool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188720"/>
            <a:ext cx="219456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66376" y="124358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66376" y="1719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of Labour Cost
Automatable</a:t>
            </a:r>
          </a:p>
        </p:txBody>
      </p:sp>
      <p:pic>
        <p:nvPicPr>
          <p:cNvPr id="22" name="Picture 21" descr="01_labor_cost_by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0"/>
            <a:ext cx="6858000" cy="38404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406640" y="2286000"/>
            <a:ext cx="45720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35915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5E"/>
                </a:solidFill>
                <a:latin typeface="Calibri"/>
              </a:rPr>
              <a:t>Key Findings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2743200"/>
            <a:ext cx="4251960" cy="1828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43800" y="2834640"/>
            <a:ext cx="54864" cy="3200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28346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0632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Largest cost pool — $112M
29% of total labour cost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3493008"/>
            <a:ext cx="54864" cy="3200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34930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Customer Success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7216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Largest headcount — 312 FTEs
High repetitive task ratio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4151376"/>
            <a:ext cx="54864" cy="3200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41513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Finance &amp; 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37997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High automation readiness
Strong AI tooling available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4809744"/>
            <a:ext cx="54864" cy="3200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480974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Legal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50383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Low automation suitability
0.92 decision intensity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5468112"/>
            <a:ext cx="54864" cy="3200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546811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Benefits 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56967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30% employer cost applied
48-week productive year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19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A"/>
                </a:solidFill>
                <a:latin typeface="Calibri"/>
              </a:rPr>
              <a:t>Sahil Saurav  |  GitHub: DATADUDE07  |  AI Workforce Transformation Analytics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19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All data synthetic — illustrative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A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06  SQL Analysis — 15 Business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A"/>
                </a:solidFill>
                <a:latin typeface="Calibri"/>
              </a:rPr>
              <a:t>CTEs · Window Functions · CASE WHEN · UNION ALL · Subqueries · 3-table JOINs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66928" cy="5943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298448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252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Labor cost by department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904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GROUP BY, SUM, % share subquery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37943"/>
            <a:ext cx="5623560" cy="5943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837943"/>
            <a:ext cx="566928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94767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Top 10 highest-cost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13969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ORDER BY, LIMIT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87168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487168"/>
            <a:ext cx="566928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2596896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523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Salary by role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GROUP BY, AVG, CASE WHEN ordering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36391"/>
            <a:ext cx="5623560" cy="5943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136391"/>
            <a:ext cx="566928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246120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172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Automation potential by 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4381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AVG, CASE WHEN tier labels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85615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785615"/>
            <a:ext cx="566928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" y="3895344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8221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Headcount concentration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0873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Window: SUM() OVER()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34840"/>
            <a:ext cx="5623560" cy="5943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434840"/>
            <a:ext cx="566928" cy="5943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4544568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4714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Automatable cost pool by dept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7365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3-table JOIN, derived column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084064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084064"/>
            <a:ext cx="566928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" y="519379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Highest AI opportunity roles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3858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Subquery, composite sort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733288"/>
            <a:ext cx="5623560" cy="5943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5733288"/>
            <a:ext cx="566928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6" y="5843016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5769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Productivity before/after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60350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CASE WHEN, computed columns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118872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1188720"/>
            <a:ext cx="566928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45936" y="1298448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12252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Scenario savings comparison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14904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CTE + UNION ALL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1837943"/>
            <a:ext cx="5623560" cy="5943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09360" y="1837943"/>
            <a:ext cx="566928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45936" y="194767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ROI ranking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213969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CTE + RANK() OVER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2487168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9360" y="2487168"/>
            <a:ext cx="566928" cy="5943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5936" y="2596896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2523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Risk-opportunity matrix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CASE WHEN quadrant classification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3136391"/>
            <a:ext cx="5623560" cy="5943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9360" y="3136391"/>
            <a:ext cx="566928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45936" y="3246120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9440" y="3172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Phase assignment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34381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NTILE(3) OVER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3785615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09360" y="3785615"/>
            <a:ext cx="566928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45936" y="3895344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49440" y="38221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Break-even analysis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0" y="40873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Subquery filter on payback months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4434840"/>
            <a:ext cx="5623560" cy="5943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09360" y="4434840"/>
            <a:ext cx="566928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45936" y="4544568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Q14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4714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Auto vs augment split per domain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49440" y="47365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Conditional aggregation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9360" y="5084064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09360" y="5084064"/>
            <a:ext cx="566928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45936" y="519379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4944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C5E"/>
                </a:solidFill>
                <a:latin typeface="Calibri"/>
              </a:rPr>
              <a:t>Top 5 by 3-year NPV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49440" y="53858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CTE NPV formula + RANK() OVER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6519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A"/>
                </a:solidFill>
                <a:latin typeface="Calibri"/>
              </a:rPr>
              <a:t>Sahil Saurav  |  GitHub: DATADUDE07  |  AI Workforce Transformation Analytics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800" y="6519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All data synthetic — illustrative only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A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07  Scenario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058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A"/>
                </a:solidFill>
                <a:latin typeface="Calibri"/>
              </a:rPr>
              <a:t>Conservative · Moderate ★ · Aggressive — risk-adjusted adoption modelling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914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CONSERVATIVE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Adoption Rate: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2128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Productivity Mult: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07791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Impl. Cost Mult: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90779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1.20×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5526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Rollout: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25526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36 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3657600" cy="1828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12464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Financial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Net Annual Benefit: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C1"/>
                </a:solidFill>
                <a:latin typeface="Calibri"/>
              </a:rPr>
              <a:t>$36M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89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Risk-Adj Benefit: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~$32M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365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Payback Period: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7365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~24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840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3-Year NPV: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084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~$79M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86400"/>
            <a:ext cx="3657600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5541264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Low friction, board-approved minimum.
Higher implementation costs, slower rollout.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1188720"/>
            <a:ext cx="36576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1234440"/>
            <a:ext cx="3520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MODERATE ★
RECOMMENDED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19456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23042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Adoption Rate: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304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65%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2651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Productivity Mult: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75%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2999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Impl. Cost Mult: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29992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1.00×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334670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Rollout: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34670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24 mo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3749039"/>
            <a:ext cx="3657600" cy="1828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3803904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Financial Outcomes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13308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Net Annual Benefit: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$61M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448055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Risk-Adj Benefit: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4805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~$52M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4828031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Payback Period: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8280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~13 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17550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3-Year NPV: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517550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~$146M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5577840"/>
            <a:ext cx="36576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07408" y="5632704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Best risk-adjusted efficiency.
Recommended scenario — balances speed and safety.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1188720"/>
            <a:ext cx="365760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1234440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AGGRESSIVE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210312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2212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Adoption Rate: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22128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85%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2560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Productivity Mult: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90%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2907791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Impl. Cost Mult: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0" y="290779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0.90×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325526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Rollout: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24160" y="325526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18 mo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3657600"/>
            <a:ext cx="3657600" cy="1828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66760" y="3712464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Financial Outcomes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40416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Net Annual Benefit: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Calibri"/>
              </a:rPr>
              <a:t>$79M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66760" y="4389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Risk-Adj Benefit: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0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~$65M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66760" y="47365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Payback Period: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47365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~10 mo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66760" y="50840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A5A6"/>
                </a:solidFill>
                <a:latin typeface="Calibri"/>
              </a:rPr>
              <a:t>3-Year NPV: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24160" y="5084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~$183M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5486400"/>
            <a:ext cx="3657600" cy="731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39327" y="5541264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Maximum value capture, compressed timeline.
Higher execution risk, change management stress.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5897880"/>
            <a:ext cx="11475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3C5E"/>
                </a:solidFill>
                <a:latin typeface="Calibri"/>
              </a:rPr>
              <a:t>Optimal Scenario Criterion: risk_adjusted_net_benefit = net_annual_benefit × (1 − quality_risk_materialisation)  →  Moderate maximises this ratio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6519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A"/>
                </a:solidFill>
                <a:latin typeface="Calibri"/>
              </a:rPr>
              <a:t>Sahil Saurav  |  GitHub: DATADUDE07  |  AI Workforce Transformation Analytics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0" y="6519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All data synthetic — illustrative only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A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08  Sensitivity Analysis &amp;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058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A"/>
                </a:solidFill>
                <a:latin typeface="Calibri"/>
              </a:rPr>
              <a:t>12 weight perturbations · Spearman rank correlation · Rankings confirmed robust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75720" cy="10058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A838"/>
                </a:solidFill>
                <a:latin typeface="Calibri"/>
              </a:rPr>
              <a:t>Minimum Spearman ρ across all 12 perturbations:  0.969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733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5A5A6"/>
                </a:solidFill>
                <a:latin typeface="Calibri"/>
              </a:rPr>
              <a:t>Rankings are robust — conclusions hold regardless of reasonable weight disagreements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3949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04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5E"/>
                </a:solidFill>
                <a:latin typeface="Calibri"/>
              </a:rPr>
              <a:t>Methodology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9776"/>
            <a:ext cx="5120640" cy="1828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1.  Baseline AAPS computed with weights: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5467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     F1=0.25, F2=0.25, F3=0.15, F4=0.15, F5=0.10, F6=0.10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2899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2.  Each weight shifted ±10 percentage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7763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    while keeping other weights proportional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5195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7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3.  AAPS re-computed for all 29 roles under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0059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    each perturbation (12 total experiments)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1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3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4.  Spearman rank correlation computed between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2355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    baseline ranking and each perturbed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9787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7219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5.  ρ ≥ 0.969 → rankings are stable</a:t>
            </a:r>
          </a:p>
        </p:txBody>
      </p:sp>
      <p:pic>
        <p:nvPicPr>
          <p:cNvPr id="26" name="Picture 25" descr="06_sensitivity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331720"/>
            <a:ext cx="6035040" cy="347472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365760" y="5897880"/>
            <a:ext cx="1147572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✅  Key insight: Increasing F2 (cost saving weight) by 10pp → ρ = 0.975  |  Reducing F1 (automation weight) → ρ = 0.969  |  Rankings never fall below ρ = 0.969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19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A"/>
                </a:solidFill>
                <a:latin typeface="Calibri"/>
              </a:rPr>
              <a:t>Sahil Saurav  |  GitHub: DATADUDE07  |  AI Workforce Transformation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19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All data synthetic — illustrative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A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09  Key Visualisations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058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A"/>
                </a:solidFill>
                <a:latin typeface="Calibri"/>
              </a:rPr>
              <a:t>11 business-narrative charts — each answers a specific analytical question</a:t>
            </a:r>
          </a:p>
        </p:txBody>
      </p:sp>
      <p:pic>
        <p:nvPicPr>
          <p:cNvPr id="7" name="Picture 6" descr="05_aaps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57784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4846320"/>
            <a:ext cx="5577840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4882896"/>
            <a:ext cx="53949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AAPS Ranking — All 29 Roles
(RAG colour coded)</a:t>
            </a:r>
          </a:p>
        </p:txBody>
      </p:sp>
      <p:pic>
        <p:nvPicPr>
          <p:cNvPr id="10" name="Picture 9" descr="09_risk_vs_opportu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5943600" cy="3657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35040" y="4846320"/>
            <a:ext cx="5943600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4882896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Risk vs AI Opportunity
(2×2 matrix quadrant)</a:t>
            </a:r>
          </a:p>
        </p:txBody>
      </p:sp>
      <p:pic>
        <p:nvPicPr>
          <p:cNvPr id="13" name="Picture 12" descr="01_labor_cost_by_depart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5029200"/>
            <a:ext cx="2286000" cy="1280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" y="6309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  <a:latin typeface="Calibri"/>
              </a:rPr>
              <a:t>Labor Cost by Dept</a:t>
            </a:r>
          </a:p>
        </p:txBody>
      </p:sp>
      <p:pic>
        <p:nvPicPr>
          <p:cNvPr id="15" name="Picture 14" descr="02_automation_potential_by_fun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5029200"/>
            <a:ext cx="2286000" cy="1280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6309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  <a:latin typeface="Calibri"/>
              </a:rPr>
              <a:t>Automation Potential</a:t>
            </a:r>
          </a:p>
        </p:txBody>
      </p:sp>
      <p:pic>
        <p:nvPicPr>
          <p:cNvPr id="17" name="Picture 16" descr="04_productivity_by_ro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5029200"/>
            <a:ext cx="2286000" cy="1280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74920" y="6309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  <a:latin typeface="Calibri"/>
              </a:rPr>
              <a:t>Productivity by Role</a:t>
            </a:r>
          </a:p>
        </p:txBody>
      </p:sp>
      <p:pic>
        <p:nvPicPr>
          <p:cNvPr id="19" name="Picture 18" descr="07_scenario_savings_by_depart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5029200"/>
            <a:ext cx="2286000" cy="12801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52360" y="6309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  <a:latin typeface="Calibri"/>
              </a:rPr>
              <a:t>Scenario Savings</a:t>
            </a:r>
          </a:p>
        </p:txBody>
      </p:sp>
      <p:pic>
        <p:nvPicPr>
          <p:cNvPr id="21" name="Picture 20" descr="00_eda_correlation_heat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9800" y="5029200"/>
            <a:ext cx="2286000" cy="1280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29800" y="6309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  <a:latin typeface="Calibri"/>
              </a:rPr>
              <a:t>EDA Heatmap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9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A"/>
                </a:solidFill>
                <a:latin typeface="Calibri"/>
              </a:rPr>
              <a:t>Sahil Saurav  |  GitHub: DATADUDE07  |  AI Workforce Transformation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19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All data synthetic — illustrative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A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10  Recommendations &amp; Implementation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058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A"/>
                </a:solidFill>
                <a:latin typeface="Calibri"/>
              </a:rPr>
              <a:t>3-phase rollout · 24-month moderate scenario · $61M net annual savings 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1
Months 1–8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54864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2938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Customer Support Agent 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76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AAPS 0.688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1762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72% repetitive · chatbot-ready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97479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697479"/>
            <a:ext cx="54864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5234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AP / AR Clerk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992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AAPS 0.702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9992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88% repetitive · OCR + AI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20439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20439"/>
            <a:ext cx="54864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75303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Reporting 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2219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AAPS 0.672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82219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65% automatable · BI tools mature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43400"/>
            <a:ext cx="3657600" cy="640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39826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C3E50"/>
                </a:solidFill>
                <a:latin typeface="Calibri"/>
              </a:rPr>
              <a:t>Quick wins: High AAPS, low risk, mature AI tooling available today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1188720"/>
            <a:ext cx="365760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121615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2
Months 9–18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1874519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1874519"/>
            <a:ext cx="54864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192938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QA / Test Engineer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2176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C1"/>
                </a:solidFill>
                <a:latin typeface="Calibri"/>
              </a:rPr>
              <a:t>AAPS 0.650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21762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62% repetitive · GitHub Copilot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2697479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2697479"/>
            <a:ext cx="54864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75234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BI &amp; Data Analyst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29992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C1"/>
                </a:solidFill>
                <a:latin typeface="Calibri"/>
              </a:rPr>
              <a:t>AAPS 0.635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29992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Augmentation + auto-insights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3520439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3520439"/>
            <a:ext cx="54864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3575303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Sales Dev Rep (SDR)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382219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C1"/>
                </a:solidFill>
                <a:latin typeface="Calibri"/>
              </a:rPr>
              <a:t>AAPS 0.618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382219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Email/outreach automation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4343400"/>
            <a:ext cx="3657600" cy="640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07408" y="439826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C3E50"/>
                </a:solidFill>
                <a:latin typeface="Calibri"/>
              </a:rPr>
              <a:t>Scale-up: AI augmentation focus, parallel change management programmes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1188720"/>
            <a:ext cx="3657600" cy="6400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121615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3
Months 18–24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1874519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1874519"/>
            <a:ext cx="54864" cy="7772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66760" y="192938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Software Engineer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2176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838"/>
                </a:solidFill>
                <a:latin typeface="Calibri"/>
              </a:rPr>
              <a:t>AAPS 0.705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29800" y="21762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Copilot · code review · gen AI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2697479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2697479"/>
            <a:ext cx="54864" cy="7772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6760" y="275234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Data Scientist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9992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838"/>
                </a:solidFill>
                <a:latin typeface="Calibri"/>
              </a:rPr>
              <a:t>AAPS 0.597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29800" y="29992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AutoML · feature engineering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3520439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9600" y="3520439"/>
            <a:ext cx="54864" cy="7772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66760" y="3575303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Technical Recruiter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382219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838"/>
                </a:solidFill>
                <a:latin typeface="Calibri"/>
              </a:rPr>
              <a:t>AAPS 0.582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00" y="382219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  <a:latin typeface="Calibri"/>
              </a:rPr>
              <a:t>Screening · JD generation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4343400"/>
            <a:ext cx="3657600" cy="640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39327" y="439826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C3E50"/>
                </a:solidFill>
                <a:latin typeface="Calibri"/>
              </a:rPr>
              <a:t>Strategic: Highest cost pool, longer change management, governance required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833872"/>
            <a:ext cx="11475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58887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Governance Flags: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5888736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Legal/Compliance roles marked Low AI Suitability (regulatory_sensitivity &gt; 0.80)  ·  Customer-facing roles require human-in-the-loop oversight  ·  All Phase 1 roles confirmed: payback &lt; 12 months, risk_score &lt; 0.40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6519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A"/>
                </a:solidFill>
                <a:latin typeface="Calibri"/>
              </a:rPr>
              <a:t>Sahil Saurav  |  GitHub: DATADUDE07  |  AI Workforce Transformation Analytics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6519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All data synthetic — illustrative only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A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11  Limitations, Risks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058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A"/>
                </a:solidFill>
                <a:latin typeface="Calibri"/>
              </a:rPr>
              <a:t>Analytical integrity: transparent assumptions, clearly bounded claims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⚠️  Analytical Limitations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5120640" cy="182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10972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465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Synthetic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8424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All headcounts, salaries, potentials are illustrative.
Real deployment requires actual HR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32888"/>
            <a:ext cx="10972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963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Static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3405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Point-in-time snapshot — AI capability evolves
rapidly; some scores may shift within 2 years.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82696"/>
            <a:ext cx="10972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461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Productivity Uplift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83864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Based on MIT/Stanford/McKinsey benchmarks.
Actual gains vary by implementation quality.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0972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959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Fixed Discount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33672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NPV uses 10% hurdle rate. Companies with
higher WACC will see lower NPVs.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82312"/>
            <a:ext cx="10972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4573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No Change Mgmt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98348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Change management modelled as a complexity
factor only, not as direct cost.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18872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12618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🔴  Business Risks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1664208"/>
            <a:ext cx="5074919" cy="182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1783080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7465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Labour Displacement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98424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Legal, reputational &amp; morale risk if workforce
transition plan is absent.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2532888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4963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Quality Degradation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73405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AI errors in regulated roles (Finance, Legal)
can create liability.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3282696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2461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Cost Overruns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483864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IT integration costs are hard to predict.
Conservative scenario adds 20% buffer.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4032504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9959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Vendor Lock-in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233672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AI tooling costs may escalate; ongoing
cost assumptions may be understated.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4782312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474573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Calibri"/>
              </a:rPr>
              <a:t>Regulatory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98348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EU AI Act and sector-specific rules may
restrict automation in compliance roles.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577840"/>
            <a:ext cx="11475720" cy="7315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6327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838"/>
                </a:solidFill>
                <a:latin typeface="Calibri"/>
              </a:rPr>
              <a:t>Real Data Needed to Operationalise: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632704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Actual HR headcount &amp; salary bands  ·  Time-motion studies per role  ·  Historical error rates  ·  Vendor quotes for AI tooling  ·  Change management readiness assessments  ·  Regulatory compliance 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9436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5A5A6"/>
                </a:solidFill>
                <a:latin typeface="Calibri"/>
              </a:rPr>
              <a:t>→ Contact for full methodology handoff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19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A"/>
                </a:solidFill>
                <a:latin typeface="Calibri"/>
              </a:rPr>
              <a:t>Sahil Saurav  |  GitHub: DATADUDE07  |  AI Workforce Transformation Analytics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19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All data synthetic — illustrative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A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A838"/>
                </a:solidFill>
                <a:latin typeface="Calibri"/>
              </a:rPr>
              <a:t>AI Workforce Transformation: Decision Analytics Portfolio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1417320" cy="8229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3" y="323697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36576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Roles Scored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21408" y="3200400"/>
            <a:ext cx="1417320" cy="8229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6272" y="323697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36576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Tasks Analysed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94176" y="3200400"/>
            <a:ext cx="1417320" cy="8229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323697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$61M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6576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Savings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66944" y="3200400"/>
            <a:ext cx="1417320" cy="8229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7" y="323697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~94%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7" y="36576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Year-1 ROI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39712" y="3200400"/>
            <a:ext cx="1417320" cy="8229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4575" y="323697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ρ=0.969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4575" y="36576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Rank Robustness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5A5A6"/>
                </a:solidFill>
                <a:latin typeface="Calibri"/>
              </a:rPr>
              <a:t>PRESENTED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194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Sahil Saurav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A838"/>
                </a:solidFill>
                <a:latin typeface="Calibri"/>
              </a:rPr>
              <a:t>GitHub: DATADUDE07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154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5A5A6"/>
                </a:solidFill>
                <a:latin typeface="Calibri"/>
              </a:rPr>
              <a:t>Decision Analytics Portfolio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251960"/>
            <a:ext cx="8046720" cy="1920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3159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38"/>
                </a:solidFill>
                <a:latin typeface="Calibri"/>
              </a:rPr>
              <a:t>Key Resume Bullets: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634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End-to-end Decision Analytics pipeline: 29 roles · 145 tasks · $373M labour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651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AAPS: 6-factor weighted score, Spearman ρ ≥ 0.969 across 12 sensitivity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26694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$61M net annual savings, 13-month payback, $146M 3-year NPV (moderate scenario)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56869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15 SQL queries (CTEs, window functions) + 8-sheet RAG-formatted Excel workbook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19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A"/>
                </a:solidFill>
                <a:latin typeface="Calibri"/>
              </a:rPr>
              <a:t>Sahil Saurav  |  GitHub: DATADUDE07  |  AI Workforce Transformation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19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All data synthetic — illustrative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A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